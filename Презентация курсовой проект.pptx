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4" name="Google Shape;24;p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4499992" y="116632"/>
            <a:ext cx="4536504" cy="6624736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DE652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Студент группы Ир5-22 Грабовенко К.С.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Руководитель Федотова Н.И.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77" y="0"/>
            <a:ext cx="4433161" cy="6858000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</p:pic>
      <p:grpSp>
        <p:nvGrpSpPr>
          <p:cNvPr id="91" name="Google Shape;91;p13"/>
          <p:cNvGrpSpPr/>
          <p:nvPr/>
        </p:nvGrpSpPr>
        <p:grpSpPr>
          <a:xfrm>
            <a:off x="107504" y="5085184"/>
            <a:ext cx="6480720" cy="1296144"/>
            <a:chOff x="2843808" y="5033185"/>
            <a:chExt cx="5688632" cy="1080120"/>
          </a:xfrm>
        </p:grpSpPr>
        <p:sp>
          <p:nvSpPr>
            <p:cNvPr id="92" name="Google Shape;92;p13"/>
            <p:cNvSpPr/>
            <p:nvPr/>
          </p:nvSpPr>
          <p:spPr>
            <a:xfrm>
              <a:off x="2843808" y="5033185"/>
              <a:ext cx="5688632" cy="108012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3" name="Google Shape;9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59832" y="5157192"/>
              <a:ext cx="5154178" cy="8321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3"/>
          <p:cNvSpPr txBox="1"/>
          <p:nvPr/>
        </p:nvSpPr>
        <p:spPr>
          <a:xfrm>
            <a:off x="4572000" y="205554"/>
            <a:ext cx="4320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rgbClr val="14425D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интернет-магазина “Дом музыки”</a:t>
            </a:r>
            <a:endParaRPr b="1" sz="3000">
              <a:solidFill>
                <a:srgbClr val="1442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01" name="Google Shape;101;p14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02" name="Google Shape;102;p14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14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06" name="Google Shape;106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110" name="Google Shape;110;p14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Актуальность курсового проекта</a:t>
            </a:r>
            <a:endParaRPr sz="2000"/>
          </a:p>
        </p:txBody>
      </p:sp>
      <p:sp>
        <p:nvSpPr>
          <p:cNvPr id="111" name="Google Shape;111;p14"/>
          <p:cNvSpPr txBox="1"/>
          <p:nvPr/>
        </p:nvSpPr>
        <p:spPr>
          <a:xfrm>
            <a:off x="486222" y="2094048"/>
            <a:ext cx="8200578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современном мире</a:t>
            </a: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где электронная коммерция продолжает активно развиваться, проектирование и разработка удобных интуитивно понятных интерфейсов пользователей становится ключевым аспектом успеха  интернет-магазинов. Проект интернет-магазина “Дом музыки” направлен на создание платформы, которая не только предложит широкий ассортимент музыкальных товаров, но и обеспечит положительный пользовательский опыт.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5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17" name="Google Shape;117;p15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15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2" name="Google Shape;122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126" name="Google Shape;126;p15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Цель курсового проекта</a:t>
            </a:r>
            <a:endParaRPr sz="2000"/>
          </a:p>
        </p:txBody>
      </p:sp>
      <p:sp>
        <p:nvSpPr>
          <p:cNvPr id="127" name="Google Shape;127;p15"/>
          <p:cNvSpPr txBox="1"/>
          <p:nvPr/>
        </p:nvSpPr>
        <p:spPr>
          <a:xfrm>
            <a:off x="683568" y="2037872"/>
            <a:ext cx="3653730" cy="2543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ru-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 курсово</a:t>
            </a:r>
            <a:r>
              <a:rPr b="1" lang="ru-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го проекта является разработка эффективного интерфейса пользователя для интернет-магазина “Дом музыки”, который обеспечит удобство и простоту в использовании, а также повысит уровень удовлетворенности клиентов.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ct val="100000"/>
              <a:buFont typeface="Tomorrow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4806702" y="2031393"/>
            <a:ext cx="3653730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ru-RU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Таким образом, проект направлен на создание привлекательной и эффективной платформы, способствующей успешным продажам и формированию лояльности клиентов к интернет - магазину “Дом музыки”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ct val="100000"/>
              <a:buFont typeface="Tomorrow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35" name="Google Shape;135;p16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16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138" name="Google Shape;138;p16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9" name="Google Shape;139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0" name="Google Shape;14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143" name="Google Shape;143;p16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Задачи курсового проекта</a:t>
            </a:r>
            <a:endParaRPr sz="2000"/>
          </a:p>
        </p:txBody>
      </p:sp>
      <p:sp>
        <p:nvSpPr>
          <p:cNvPr id="144" name="Google Shape;144;p16"/>
          <p:cNvSpPr txBox="1"/>
          <p:nvPr/>
        </p:nvSpPr>
        <p:spPr>
          <a:xfrm>
            <a:off x="475875" y="1980575"/>
            <a:ext cx="8211000" cy="4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Исследование целевой аудитории для определения потребностей пользователей.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Разработка структуры и навигации интерфейса интернет-магазина.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Создание адаптивного дизайна для различных устройств.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Тестирование интерфейса на удобство и функциональность.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000"/>
              <a:buFont typeface="Tomorrow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7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50" name="Google Shape;150;p17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51" name="Google Shape;151;p17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7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17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154" name="Google Shape;154;p17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5" name="Google Shape;155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56" name="Google Shape;15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159" name="Google Shape;159;p17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sz="2000"/>
          </a:p>
        </p:txBody>
      </p:sp>
      <p:sp>
        <p:nvSpPr>
          <p:cNvPr id="160" name="Google Shape;160;p17"/>
          <p:cNvSpPr txBox="1"/>
          <p:nvPr/>
        </p:nvSpPr>
        <p:spPr>
          <a:xfrm>
            <a:off x="1267650" y="2020125"/>
            <a:ext cx="70056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Провести анализ целевой аудитории: определить основные потребности, предпочтения и поведение пользователей, чтобы создать интерфейс, который будет максимально соответствовать их ожиданиям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ct val="100000"/>
              <a:buFont typeface="Tomorrow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348" y="1945043"/>
            <a:ext cx="756504" cy="2654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1305691" y="3843965"/>
            <a:ext cx="7028485" cy="859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Провести тестирование интерфейса: организовать тестирование на разных группах пользователей для выявления недостатков и получения обратной связи.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274475" y="2873627"/>
            <a:ext cx="7028485" cy="859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Создать прототип интерфейса: разработать структуру и навигацию, обеспечивающие легкий доступ к товарам и услугам, а также продумать расположение элементов интерфейса.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8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69" name="Google Shape;169;p18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18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173" name="Google Shape;173;p18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74" name="Google Shape;174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75" name="Google Shape;17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178" name="Google Shape;178;p18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Теоретическая часть</a:t>
            </a:r>
            <a:endParaRPr sz="2000"/>
          </a:p>
        </p:txBody>
      </p:sp>
      <p:sp>
        <p:nvSpPr>
          <p:cNvPr id="179" name="Google Shape;179;p18"/>
          <p:cNvSpPr txBox="1"/>
          <p:nvPr/>
        </p:nvSpPr>
        <p:spPr>
          <a:xfrm>
            <a:off x="611560" y="1871867"/>
            <a:ext cx="7920880" cy="4484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1615C"/>
              </a:buClr>
              <a:buSzPts val="2000"/>
              <a:buFont typeface="Tomorrow"/>
              <a:buNone/>
            </a:pPr>
            <a:r>
              <a:rPr lang="ru-RU"/>
              <a:t>В теоретической части курсового проекта рассматриваются основные концепции и принципы проектирования интерфейсов пользователей, а также ключевые аспекты, касающиеся разработки интернет-магазинов.</a:t>
            </a:r>
            <a:endParaRPr/>
          </a:p>
          <a:p>
            <a:pPr indent="-3175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AutoNum type="arabicPeriod"/>
            </a:pPr>
            <a:r>
              <a:rPr lang="ru-RU"/>
              <a:t>Пользовательский опыт (UX)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/>
              <a:t>Интерфейс пользователя (UI)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/>
              <a:t>Адаптивный дизайн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/>
              <a:t>Интерактивные элементы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/>
              <a:t>Тестирование интерфейса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9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185" name="Google Shape;185;p19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186" name="Google Shape;186;p19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9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189" name="Google Shape;189;p19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90" name="Google Shape;190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91" name="Google Shape;19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Аналитическая часть</a:t>
            </a:r>
            <a:endParaRPr sz="2000"/>
          </a:p>
        </p:txBody>
      </p:sp>
      <p:sp>
        <p:nvSpPr>
          <p:cNvPr id="195" name="Google Shape;195;p19"/>
          <p:cNvSpPr txBox="1"/>
          <p:nvPr/>
        </p:nvSpPr>
        <p:spPr>
          <a:xfrm>
            <a:off x="475879" y="2020120"/>
            <a:ext cx="7797402" cy="175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Были анализированы три сайта и вот результаты анализа: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Некоторые функции не работа</a:t>
            </a:r>
            <a:r>
              <a:rPr b="1" i="0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ют на телефонах;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Устаревший дизайн;</a:t>
            </a:r>
            <a:br>
              <a:rPr b="1" i="0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 разработки макета эти ошибки конкурентов были учтены.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000"/>
              <a:buFont typeface="Tomorrow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1088" y="4204288"/>
            <a:ext cx="3933825" cy="1724025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DE652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0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202" name="Google Shape;202;p20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203" name="Google Shape;203;p20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20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20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206" name="Google Shape;206;p20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07" name="Google Shape;207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211" name="Google Shape;211;p20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Проектная часть</a:t>
            </a:r>
            <a:endParaRPr sz="2000"/>
          </a:p>
        </p:txBody>
      </p:sp>
      <p:sp>
        <p:nvSpPr>
          <p:cNvPr id="212" name="Google Shape;212;p20"/>
          <p:cNvSpPr txBox="1"/>
          <p:nvPr/>
        </p:nvSpPr>
        <p:spPr>
          <a:xfrm>
            <a:off x="475879" y="2020120"/>
            <a:ext cx="7797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Далее, были разработаны макеты сайта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ct val="100000"/>
              <a:buFont typeface="Tomorrow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550" y="3021512"/>
            <a:ext cx="8308901" cy="21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21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219" name="Google Shape;219;p21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220" name="Google Shape;220;p21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21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2" name="Google Shape;222;p21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223" name="Google Shape;223;p21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24" name="Google Shape;224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25" name="Google Shape;22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228" name="Google Shape;228;p21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Проектная часть</a:t>
            </a:r>
            <a:endParaRPr sz="2000"/>
          </a:p>
        </p:txBody>
      </p:sp>
      <p:sp>
        <p:nvSpPr>
          <p:cNvPr id="229" name="Google Shape;229;p21"/>
          <p:cNvSpPr txBox="1"/>
          <p:nvPr/>
        </p:nvSpPr>
        <p:spPr>
          <a:xfrm>
            <a:off x="475879" y="2020120"/>
            <a:ext cx="7797402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Далее, по макетам были созданы страницы сайта и адаптивы к ним: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000"/>
              <a:buFont typeface="Tomorrow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875" y="3347874"/>
            <a:ext cx="4686926" cy="238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4238" y="2699475"/>
            <a:ext cx="2278861" cy="31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2"/>
          <p:cNvGrpSpPr/>
          <p:nvPr/>
        </p:nvGrpSpPr>
        <p:grpSpPr>
          <a:xfrm>
            <a:off x="251520" y="188640"/>
            <a:ext cx="8712968" cy="6462736"/>
            <a:chOff x="251520" y="188640"/>
            <a:chExt cx="8712968" cy="6462736"/>
          </a:xfrm>
        </p:grpSpPr>
        <p:grpSp>
          <p:nvGrpSpPr>
            <p:cNvPr id="237" name="Google Shape;237;p22"/>
            <p:cNvGrpSpPr/>
            <p:nvPr/>
          </p:nvGrpSpPr>
          <p:grpSpPr>
            <a:xfrm>
              <a:off x="251520" y="188640"/>
              <a:ext cx="8712968" cy="6462736"/>
              <a:chOff x="251520" y="188640"/>
              <a:chExt cx="8712968" cy="6462736"/>
            </a:xfrm>
          </p:grpSpPr>
          <p:sp>
            <p:nvSpPr>
              <p:cNvPr id="238" name="Google Shape;238;p22"/>
              <p:cNvSpPr/>
              <p:nvPr/>
            </p:nvSpPr>
            <p:spPr>
              <a:xfrm>
                <a:off x="251520" y="188640"/>
                <a:ext cx="8712968" cy="6462736"/>
              </a:xfrm>
              <a:prstGeom prst="rect">
                <a:avLst/>
              </a:prstGeom>
              <a:solidFill>
                <a:schemeClr val="lt1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251520" y="188640"/>
                <a:ext cx="8640960" cy="872480"/>
              </a:xfrm>
              <a:prstGeom prst="rect">
                <a:avLst/>
              </a:prstGeom>
              <a:solidFill>
                <a:srgbClr val="DE6522"/>
              </a:solidFill>
              <a:ln cap="flat" cmpd="sng" w="76200">
                <a:solidFill>
                  <a:srgbClr val="DE65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22"/>
            <p:cNvGrpSpPr/>
            <p:nvPr/>
          </p:nvGrpSpPr>
          <p:grpSpPr>
            <a:xfrm>
              <a:off x="5220072" y="188640"/>
              <a:ext cx="3672408" cy="792088"/>
              <a:chOff x="2843808" y="5033185"/>
              <a:chExt cx="5688632" cy="1080120"/>
            </a:xfrm>
          </p:grpSpPr>
          <p:sp>
            <p:nvSpPr>
              <p:cNvPr id="241" name="Google Shape;241;p22"/>
              <p:cNvSpPr/>
              <p:nvPr/>
            </p:nvSpPr>
            <p:spPr>
              <a:xfrm>
                <a:off x="2843808" y="5033185"/>
                <a:ext cx="5688632" cy="1080120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" dir="5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48365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42" name="Google Shape;242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59832" y="5157192"/>
                <a:ext cx="5154178" cy="8321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43" name="Google Shape;24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/5</a:t>
            </a:r>
            <a:endParaRPr/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6303713"/>
            <a:ext cx="7005637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323528" y="188640"/>
            <a:ext cx="47525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разработка интерфейсов пользователей веб-сервиса с конкурсами к году защитника Отечества.</a:t>
            </a:r>
            <a:endParaRPr/>
          </a:p>
        </p:txBody>
      </p:sp>
      <p:sp>
        <p:nvSpPr>
          <p:cNvPr id="246" name="Google Shape;246;p22"/>
          <p:cNvSpPr txBox="1"/>
          <p:nvPr>
            <p:ph type="title"/>
          </p:nvPr>
        </p:nvSpPr>
        <p:spPr>
          <a:xfrm>
            <a:off x="475878" y="1340768"/>
            <a:ext cx="8200578" cy="531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 sz="2000"/>
          </a:p>
        </p:txBody>
      </p:sp>
      <p:sp>
        <p:nvSpPr>
          <p:cNvPr id="247" name="Google Shape;247;p22"/>
          <p:cNvSpPr txBox="1"/>
          <p:nvPr/>
        </p:nvSpPr>
        <p:spPr>
          <a:xfrm>
            <a:off x="475878" y="2020120"/>
            <a:ext cx="8200577" cy="1552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9055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Calibri"/>
              <a:buNone/>
            </a:pPr>
            <a:r>
              <a:rPr b="0" i="0" lang="ru-RU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В ходе выполнения курсового проекта была успешно реализована адаптивная веб-платформа, отвечающая современным требованиям юзабилити, производительности и визуального дизайна.</a:t>
            </a:r>
            <a:endParaRPr/>
          </a:p>
          <a:p>
            <a:pPr indent="0" lvl="0" marL="0" marR="0" rtl="0" algn="l">
              <a:spcBef>
                <a:spcPts val="1029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Calibri"/>
              <a:buNone/>
            </a:pPr>
            <a:br>
              <a:rPr b="1" lang="ru-RU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Аспект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